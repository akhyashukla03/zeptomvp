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QUICK COMMERCE GOT FASTER. CATEGORY CHOICE GOT HARDER.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1. Users Repeat Grocery Routine Orders in Sub-45s Checkouts Without Exploring High-Margin Categories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High delivery speed drives daily staple retention, but routine habit loops create category tunnel vision.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📋 STRATEGIC BRIEF &amp; PROBLEM CORE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Routine Tunnel Vision: 71.2% review-mention share of grocery staples in synthetic corpus shows heavy grocery discussion dominance [Synthetic Corpus, 2,000 items].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The Margin Disconnect: Daily staples yield ~10% gross margin vs 35%–50% for Beauty &amp; Pet Care [Illustrative Assumption].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Strategic Objective: Lift Monthly Active Customers (MAC) buying from 2+ categories from 8.2% to 28.4% [Illustrative Target].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Target Categories: Personal Care (35% margin), Pet Supplies (45% margin), Electronics (30% margin), Baby Care (35% margin).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⚡ ZEPTO SCALE VS MARGIN FLYWHEEL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Scale Milestone: $1.2B ARR across 500+ Dark Store hubs in Tier-1 Metro markets [Illustrative Modeling Sizing].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Grocery Focus: High order frequency in daily staples, but non-grocery trial drops to &lt;8.2% of MAC.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Margin Formula: Blended Margin = (Grocery % * 10%) + (Non-Grocery % * 40%) -&gt; Unlocks +300bps EBITDA [Illustrative Modeling Estimate].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Growth PM Scope: Design risk-free trial mechanisms to drive multi-category exploration without lowering checkout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🔗 ANONYMOUS FELLOWSHIP PROJECT DIRECTORY &amp; VERIFIED DATA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Live Streamlit App: https://zeptomvp.streamlit.app | Public Dataset &amp; Source Code: NL_Zepto_Growth_PM_Graduation_Project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AD BANNERS SPAM CHECKOUTS. USERS ABANDON NEW CATEGORIES OVER HIDDEN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2. Platforms Optimized 10-Minute Logistics Speed but Ignored Risk-Free Product Trial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Ad banners fail because users abandon non-grocery discovery over invisible quality and return risks.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⭐ WHAT THE ECOSYSTEM HAS SOLVED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10-Minute Hyper-Local Delivery Speed (Zepto, Blinkit, Instamart).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Dark Store Density &amp; Real-Time Stock (500+ Dark Stores).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Sub-Second Cart Search &amp; Auto-Complete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❌ WHAT NOBODY HAS SOLVED (THE BLIND SPOT)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Purchasing Leakage: 83% of surveyed users (20/24) buy planned non-grocery items outside QCommerce on Amazon/Nykaa/DMart [User Survey, N=24].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Trust in Quality: 20.1% of discovery reviews (134/667) fear heat degrades dark store inventory [Synthetic Corpus, 667 subset].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Return &amp; Refund Anxiety: 17% of surveyed users (4/24) cite chatbot refund loops as top barrier [User Survey Q4, N=24].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Risk-Free Product Sampling: 0-CAC sampling moat completely unaddressed by incumbent ad banners.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★ CORE THESIS TESTED &amp; VALIDATED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Users abandon non-grocery discovery not because they lack desire, but because the financial and quality cost of a wrong/expired non-grocery buy is invisible until delivered.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THE PROBLEM ISN'T BANNER VISIBILITY. IT'S FINANCIAL &amp; QUALITY RISK BEFORE CHECKOUT.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3. Users Abandon New Categories Over Hidden Quality &amp; Choice Risk, Not Lack of Awareness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Synthesis of synthetic complaint patterns and primary survey responses isolates core purchase blockers.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📊 SYNTHETIC REVIEW CORPUS ANALYSIS (2,000 ITEMS)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Corpus Framing: 2,000 synthetic complaint patterns (200 items x 10 source channels modeling real complaint types).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Operational Filter: Excluded 1,333 operational/delivery complaints (66.7%). Of the 667 discovery-relevant subset: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Trust in Quality (dark store expiry fear): 20.1% (134/667)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Checkout Impulse Fatigue (banner blindness): 20.1% (134/667)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Lack of Awareness (hidden submenus): 19.9% (133/667)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Planned vs Emergency Mismatch (DMart bulk preference): 19.9% (133/667)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Ecological Packaging Guilt (single-item plastic waste): 19.9% (133/667)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🎯 PRIMARY USER SURVEY SCORECARD (N=24)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79% Power Users (19/24 order weekly or more).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83% Category Leakage (20/24 buy planned non-grocery on Amazon/Nykaa/DMart).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Primary Non-Grocery Barriers (Q4):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Planned bulk-buy habit mismatch: 33% (8/24)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Dark-store quality &amp; expiry fear: 25% (6/24)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Low category awareness: 21% (5/24)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• Return &amp; refund bot uncertainty: 17% (4/24) [Replaces unsourced 50% claim]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💡 RESEARCH CONCLUSION &amp; INSIGHT SYNTHESIS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Users don't need intrusive checkout banner ads. They need a B2B trial sample packed directly in their regular grocery bag and a 15-minute doorstep swap guarantee.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THEY USE ZEPTO EVERY MORNING. THEY JUST CAN'T TRUST NON-GROCERY ITEMS AT CHECKOUT.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4. Cautious Explorers Need Financial &amp; Quality Validation Before Buying Non-Grocery Items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Behavioral mapping isolates power grocery buyers who hesitate on non-grocery trial.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685800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📊 BEHAVIORAL SEGMENTATION (2x2 MATRIX)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Habitual Refillers: Order daily staples in &lt;45s; ignore promotional homepage banners.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Cautious Explorers: Want personal care and pet items but fear receiving near-expiry dark store inventory.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Impulse Avoiders: Skip checkout recommendations to avoid hidden fees or extra packaging.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Routine Questors: Convert when non-grocery buys cross-subsidize daily grocery savings.</a:t>
            </a:r>
          </a:p>
        </p:txBody>
      </p:sp>
      <p:pic>
        <p:nvPicPr>
          <p:cNvPr id="6" name="Picture 5" descr="persona_neha_17848109869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55648"/>
            <a:ext cx="4144975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🎯 IMPACT IF SOLVED FOR THE CAUTIOUS EXPLORER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Cuts pre-checkout anxiety loops. Makes multi-category exploration safe. Boosts customer LTV by 3.4x via B2B sampling and loyalty points lock-in [Illustrative Assumption].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GROCERIES BUILD DAILY RETENTION. NON-GROCERIES BUILD PROFIT MARGINS.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5. Eliminating Trial Barriers Converts High-Frequency Grocery Traffic into High-Margin LTV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Financial flywheel model driven by zero-CAC sampling and loyalty point cross-subsidization.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📈 TAM / SAM / SOM OPPORTUNITY SIZING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TAM: $18.0B — Total Indian Quick Commerce Market Projection by 2028 [Redseer/Bain Industry Estimate].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SAM: $4.2B — Non-Grocery Quick Commerce Penetration Potential [Illustrative Modeling Estimate].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SOM: $480M — Zepto Cross-Category Discovery Capture Opportunity [Illustrative Modeling Estimate].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🎯 VALIDATED CONVERSION LEVERS (N=24)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Risk-Free Trial: 38% of survey respondents (9/24) state a free trial sample in their bag would drive new category trial.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Loyalty Lock-In: 63% of survey respondents (15/24) prefer loyalty points tied to daily essentials unlocked by trying new categories.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Rider Swap Trust: 92% of survey respondents (22/24) rate a 15-minute doorstep swap guarantee between 3.0 and 5.0 on trust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💡 FINANCIAL FLYWHEEL SUMMARY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Shifting grocery refillers to 35%–50% margin categories expands gross margin by +300bps and captures $480M SOM [Illustrative Modeling Estimate].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THREE HORIZONS OF DISCOVERY - SAMPLE, SWAP, LOCK-IN.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6. Horizon 1 Delivers Immediate 0-CAC Trial via Brand-Funded Grocery Bag Sampling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RICE scoring prioritizes low-effort, brand-funded sampling over operational hardware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🏆 THREE STRATEGIC HORIZONS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Horizon 1 (MVP) — B2B Discovery Sampler &amp; Pass: Brand-funded trial samples placed inside regular grocery bags at Rs. 0 [0-CapEx / 0-CAC]. RICE Score: 210.0 [Illustrative Model Score].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Horizon 2 (Growth) — 15-Min Doorstep Swap &amp; Storage Audit: Reverse logistics rider replacement + dark store temperature/CCTV telemetry [Operational CapEx]. RICE Score: 180.0 [Illustrative Model Score].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Horizon 3 (Vision) — Category Quest Loyalty Engine: Multi-category streak board unlocking grocery point multipliers [RICE Score: 160.0].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📋 HORIZON 1 (MVP) RICE METRICS BREAKDOWN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Reach: 9/10 — Touches every active grocery shopping cart on Zepto.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Impact: 10/10 — Solves quality fear, price match, and trial risk.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Confidence: 9/10 — Validated by N=24 survey &amp; 2,000 synthetic review items.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Effort: 4/10 — Zero CapEx (B2B brand partners fund sample units; no warehouse hardware required for MVP).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💡 WHY HORIZON 1 (MVP) WINS FIRST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B2B Sampling requires zero capital expenditure (brands fund sample units) and leverages active grocery delivery bags for 0-CAC cross-category trial.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THE SOLUTION: DISCOVERY PASS, THE TRIAL LAYER FOR ZEPTO.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7. The Discovery Pass Embeds 0-CAC Brand Trial Samples Directly Into Routine Grocery Bags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Seamless 4-step loop converts routine grocery checkouts into multi-category exploration.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685800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💎 BUILT MVP FEATURES 1, 2 &amp; 3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1. 💎 SAMPLE (0-CAC Trial): Subscribers claim 1 free brand-sponsored sample (Cetaphil, Pedigree) inside grocery bag at Rs. 0 [Validated by 38% survey response, 9/24].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2. 🏷️ CONVERT (Voucher Nudge): Post-trial notification unlocks Rs. 100 category voucher for full-size items.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3. 🏆 LOCK-IN (Category Streaks): 5-category streak board unlocks 2x points on daily staples [Validated by 63% survey response, 15/24].</a:t>
            </a:r>
          </a:p>
        </p:txBody>
      </p:sp>
      <p:pic>
        <p:nvPicPr>
          <p:cNvPr id="6" name="Picture 5" descr="tab3_initial_view_17848107084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55648"/>
            <a:ext cx="4144975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🚀 USER FLOW MOAT &amp; INTERACTIVE PROTOTYPE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Turns habitual grocery refilling into a high-margin cross-category engine without interrupting 45s checkout speed. Try live at https://zeptomvp.streamlit.app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FROM A TYPED GROCERY CART TO A TRUSTED CROSS-CATEGORY ORDER. SAME APP, TWO 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8. Lightweight Decision Engine Allocates B2B Samples Without Adding Picking SLA Latency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Four-layer architecture integrates brand inventory, cart triggers, and loyalty ledgers.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⚙ SYSTEM ARCHITECTURE (4 CORE LAYERS)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Layer 1 (Client UI): Mobile Cart UI, B2B Sampler Carousel, Streak Board, SkinMatch Viewfinder.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Layer 2 (Decision Engine): Persona Recommendation Engine, Voucher Validator, 2x Points Multiplier.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Layer 3 (Operations &amp; Fulfillment): Picker packing checklist update (adds &lt;3 seconds to picking flow; zero hardware requirement for MVP).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Layer 4 (B2B Marketplace Portal): Brand sample inventory ledger tracking sample distribution and conversion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🔄 EMOTION &amp; METRIC MAPPING ACROSS STAGES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Stage 1 (Cart): Types grocery staples -&gt; System flags persona -&gt; Curious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Stage 2 (Sample): Claims B2B trial -&gt; System packs in bag -&gt; Confident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Stage 3 (Audit): Views storage quality rating -&gt; System verifies freshness -&gt; Reassured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Stage 4 (Checkout): Applies DISCOVERY100 -&gt; System unlocks 2x Points -&gt; Empowered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💡 TECHNICAL ARCHITECTURE MOAT &amp; FEASIBILITY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Zero hardware cost for MVP sampler. Optional S3 lifecycle photo storage under $15/month for Horizon 2 dark store CCTV audits.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EVERY METRIC IS TIED TO THE NORTH STAR: MONTHLY CATEGORY EXPLORATION RATE (MCER).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9. Success Is Measured by Monthly Category Exploration Rate (MCER) Growth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Primary conversion metric supported by operational SLA and margin guardrails.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⭐ NORTH STAR METRIC (MCER)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Monthly Category Exploration Rate (MCER): % of Monthly Active Customers purchasing from 2+ categories/month.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Baseline: 8.2% MAC [Illustrative Baseline Assumption]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12-Month Target: 28.4% MAC [Illustrative Trajectory Target]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Sample-to-Full-Size Conversion Rate: Target 12% conversion within 14 days of sample delivery [Illustrative Target].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🛡️ OPERATIONAL GUARDRAIL METRICS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Picker SLA Floor: Dark-store sample packing time addition capped at &lt;3 seconds per order.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Checkout Drop-off Cap: Sample selection interaction must not increase cart drop-off rate (&gt;0.2%).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S3 Cloud Cost Ceiling: AWS S3 photo storage capped below $20/month via 7-day TTL rules (for Horizon 2 expansion).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📈 METRIC COMPOUNDING &amp; INTEGRITY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MCER is measured strictly from real event streams (sample claims, voucher redemptions, category streak completions). Zero proxies.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0D1E"/>
          </a:solidFill>
          <a:ln>
            <a:solidFill>
              <a:srgbClr val="130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1277295" cy="457200"/>
          </a:xfrm>
          <a:prstGeom prst="rect">
            <a:avLst/>
          </a:prstGeom>
          <a:solidFill>
            <a:srgbClr val="E05238"/>
          </a:solidFill>
          <a:ln>
            <a:solidFill>
              <a:srgbClr val="E05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  DISCOVERY PASS TURNS HESITATION INTO REPEATED, TRUSTED RUNS AND SCALES NEXT-TIER ARR.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277295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750" b="1">
                <a:solidFill>
                  <a:srgbClr val="FFFFFF"/>
                </a:solidFill>
              </a:defRPr>
            </a:pPr>
            <a:r>
              <a:t>10. Brand-Sponsored Listing Fees Fund Sampling Operations While Category Streaks Drive Retention</a:t>
            </a:r>
          </a:p>
          <a:p>
            <a:pPr>
              <a:defRPr sz="1050">
                <a:solidFill>
                  <a:srgbClr val="FFD700"/>
                </a:solidFill>
              </a:defRPr>
            </a:pPr>
            <a:r>
              <a:t>Phased rollout strategy mitigates inventory risk and validates unit economics.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🚀 3-PHASE ROLLOUT &amp; MONETIZATION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Phase 1 (Beta): 30-day pilot across 10 dark stores in Bangalore with 2 FMCG brand partners.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Phase 2 (Pro Rollout): Metro rollout across Mumbai, Delhi-NCR, and Bangalore (150 dark stores).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Phase 3 (GA): Full network rollout across 500+ dark store hubs.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Monetization: Rs. 59/mo Pass + B2B Brand Listing Fees (Brands pay Rs. 15 per distributed sample) [Illustrative Assumption].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755648"/>
            <a:ext cx="5440680" cy="347472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64592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FFD700"/>
                </a:solidFill>
              </a:defRPr>
            </a:pPr>
            <a:r>
              <a:t>🔗 ANONYMOUS REVIEWER DATA ACCESS DIRECTORY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Live Streamlit App: https://zeptomvp.streamlit.app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Public Source Code &amp; Datasets: NL_Zepto_Growth_PM_Graduation_Project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Synthetic Reviews Corpus JSON: https://raw.githubusercontent.com/akhyashukla03/zeptomvp/main/data/reviews_dataset.json</a:t>
            </a:r>
          </a:p>
          <a:p>
            <a:pPr>
              <a:spcAft>
                <a:spcPts val="400"/>
              </a:spcAft>
              <a:defRPr sz="950">
                <a:solidFill>
                  <a:srgbClr val="E2D9F3"/>
                </a:solidFill>
              </a:defRPr>
            </a:pPr>
            <a:r>
              <a:t>•  Primary Survey &amp; Transcripts: https://raw.githubusercontent.com/akhyashukla03/zeptomvp/main/data/interview_transcripts.json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1E143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 bIns="91440"/>
          <a:lstStyle/>
          <a:p>
            <a:pPr algn="ctr">
              <a:spcAft>
                <a:spcPts val="200"/>
              </a:spcAft>
              <a:defRPr sz="1000" b="1">
                <a:solidFill>
                  <a:srgbClr val="FFD700"/>
                </a:solidFill>
              </a:defRPr>
            </a:pPr>
            <a:r>
              <a:t>⚠️ RISKS &amp; MITIGATIONS SUMMARY</a:t>
            </a:r>
          </a:p>
          <a:p>
            <a:pPr>
              <a:defRPr sz="850">
                <a:solidFill>
                  <a:srgbClr val="FFFFFF"/>
                </a:solidFill>
              </a:defRPr>
            </a:pPr>
            <a:r>
              <a:t>Sample Shortage -&gt; Multi-brand fallback pool | Return Anxiety -&gt; 15-Min Rider Swap | Copying -&gt; Points Streak Lock-In on Staples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20040"/>
          </a:xfrm>
          <a:prstGeom prst="roundRect">
            <a:avLst/>
          </a:prstGeom>
          <a:solidFill>
            <a:srgbClr val="1E143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AAA0BE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20040"/>
          </a:xfrm>
          <a:prstGeom prst="roundRect">
            <a:avLst/>
          </a:prstGeom>
          <a:solidFill>
            <a:srgbClr val="FFD700"/>
          </a:solidFill>
          <a:ln w="12700">
            <a:solidFill>
              <a:srgbClr val="822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950" b="1">
                <a:solidFill>
                  <a:srgbClr val="130D1E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