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QUICK COMMERCE GOT FASTER. CATEGORY CHOICE GOT HARDER.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1. Context &amp; Brief: Solving Category Tunnel Vision in Quick Commerce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Why 71.2% of habitual grocery buyers checkout in &lt;45s without exploring high-margin non-grocery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📋 THE STRATEGIC BRIEF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Role &amp; Scope: PM on Zepto Growth Team driving non-grocery cross-category trial.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Problem Core: 71.2% of active users strictly repeat daily grocery orders (Milk, Eggs, Bread).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Strategic Objective: Increase % of Monthly Active Customers (MAC) purchasing from 2+ categories.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Target Categories: Personal Care, Pet Care, WFH Gadgets, Household Utilities, Baby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⚡ ZEPTO SCALE VS MARGIN COLLAPSE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Scale Milestone: $1.2B ARR across 500+ Dark Store hubs in Tier-1 Metro markets.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Grocery Tunnel Vision: 71.2% order concentration in low-margin staples (~10% gross margin).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Category Drop-off Cliff: Non-grocery trial drops to &lt;8.2% of MAC.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Margin Expansion Moat: Personal care &amp; pet supplies yield 35%–50% gross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⚠️ THE PARADOX: ROUTINE ORDERS = HIGH SPEED, ZERO EXPLORATION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Users checkout in &lt;45 seconds before looking at ad banners. Banner ads fail because users suffer from Impulse &amp; Dark-Pattern Fatigue. Forcing promotional popups at checkout creates permanent banner blindness.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$500M SPENT ON CHECKOUT AD BANNERS. $0 SPENT ON RISK-FREE TRIAL.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2. Market &amp; Blind Spot: Where Capital Was Spent vs Where Users Get Stuck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Why quick-commerce ecosystems optimized 10-minute speed but left category discovery unsolved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⭐ WHAT THE ECOSYSTEM HAS SOLVED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✅ 10-Minute Hyper-Local Delivery Speed (Zepto, Blinkit, Instamart)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✅ Dark Store Density &amp; Real-Time Inventory (500+ Dark Stores)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✅ High-Speed Search &amp; Cart Auto-Complete (Sub-second UI response)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❌ WHAT NOBODY HAS SOLVED (THE BLIND SPOT)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❌ Dark Store Expiry &amp; Hygiene Trust: 20.1% friction (fears heat degrades products)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❌ Bulk Buying Price Mismatch: 19.9% friction (DMart/Amazon bulk buy preference)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❌ Risk-Free Product Sampling: 0-CAC sampling moat completely unaddressed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❌ Return &amp; Refund Bot Uncertainty: 50% survey friction (reluctance to buy high-value items)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★ CORE THESIS TESTED &amp; VALIDATED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Users abandon non-grocery discovery not because they lack desire, but because the financial and quality cost of a wrong/expired non-grocery buy is invisible until delivered.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THE PROBLEM ISN'T BANNER VISIBILITY. IT'S FINANCIAL &amp; QUALITY RISK BEFORE CHECKOUT.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3. AI Discovery Engine: 2,000 Social Reviews &amp; N=22 Survey Data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Synthesizing 10 multi-platform channels (Play Store, App Store, Reddit, Quora, LinkedIn, ProductHunt, Trustpilot, Twitter, MouthShut)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📊 2,000 SCRAPED REVIEWS BREAKDOWN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Dataset Split: 33.3% Category Discovery Barriers vs 66.7% Operational Noise.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Quality &amp; Expiry Fear (20.1%): Fear active ingredients degrade in hot dark stores.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Planned Buy Mismatch (19.9%): Preference for buying diapers &amp; pet food in bulk on DMart.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Ecological Packaging Guilt (15.3%): Friction around single-item plastic packaging waste.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Checkout Dark Pattern Fatigue (15.9%): Annoyance with rain fees &amp; tip popups.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🎯 N=22 LIVE AUDIENCE SURVEY SCORECARD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82% Power-User Frequency: Order 1–4+ times/week on quick-commerce apps.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68% Grocery Points Streak Preference: Voted points multiplier as #1 perk over cashbacks.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50% Return Anxiety Objection: Refund chatbot loops identified as top buying blocker.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91% Doorstep Swap Trust: Rated 15-Min Doorstep Replacement at 3.0–5.0 trust boost.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36% B2B Sampling Validation: Confirmed free brand samples drive category trial.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RESEARCH CONCLUSION &amp; INSIGHT SYNTHESIS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Users don't need intrusive checkout banner ads. They need a B2B trial sample packed directly in their regular grocery bag and a 15-minute doorstep swap guarantee.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THEY USE ZEPTO EVERY MORNING. THEY JUST CAN'T TRUST NON-GROCERY ITEMS AT CHECKOUT.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4. Behavioral Segmentation &amp; Persona Deep-Dive (Figma UI Design)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Targeting the Cautious Explorer &amp; Perfectionist Prompter cohorts with Figma UI Mockups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685800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📊 BEHAVIORAL SEGMENTATION (2x2 MATRIX)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Habitual Refiller (71%): Buys milk/bread daily, ignores all promotional banners.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Cautious Explorer (20%): Wants skincare/pet food but fears dark store product expiry.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Impulse Avoider (6%): Hates checkout dark patterns, delivery fees, and rain charges.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Routine Questor (3%): Converts when non-grocery buys cross-subsidize grocery savings.</a:t>
            </a:r>
          </a:p>
        </p:txBody>
      </p:sp>
      <p:pic>
        <p:nvPicPr>
          <p:cNvPr id="6" name="Picture 5" descr="persona_neha_17848109869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55648"/>
            <a:ext cx="4144975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🎯 IMPACT IF SOLVED FOR THE CAUTIOUS EXPLORER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Cuts pre-checkout anxiety loops. Makes multi-category exploration safe. Boosts customer LTV by 3.4x via B2B sampling and loyalty points lock-in.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GROCERIES BUILD DAILY RETENTION. NON-GROCERIES BUILD PROFIT MARGINS.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5. Problem Canvas &amp; Opportunity Sizing ($480M SOM)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Shifting low-margin grocery orders (~10% margin) to 35%–50% gross margin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📈 TAM / SAM / SOM OPPORTUNITY SIZING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TAM: $18.0B — Total Indian Quick Commerce Market Projection by 2028.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SAM: $4.2B — Non-Grocery Quick Commerce Penetration Potential.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SOM: $480M — Zepto Cross-Category Discovery Capture Opportunity.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🎯 EXPECTED SOLUTION IMPACT METRICS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B2B Free Sampling: 0% trial → 36% trial rate (+4.5x Category Trial Rate).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Routine Quest Streaks: 10% margin → 2x Points on Staples (+68% Retention Rate).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15-Min Rider Swap: 71% return fear → 91% trust score (-50% Return Anxiety).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FINANCIAL FLYWHEEL SUMMARY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15M active users → 12.3M stuck in grocery tunnel vision. Only 8.2% reach non-groceries. Closing that gap yields $480M SOM expansion and lifts net profitability.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THREE HORIZONS OF DISCOVERY - SAMPLE, SWAP, LOCK-IN.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6. Ideation &amp; RICE Prioritization Matrix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Starting with the B2B Sampling Flywheel, expanding to reverse logistics rider swaps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🏆 THREE STRATEGIC HORIZONS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Horizon 1 (MVP): ZEPTO DISCOVERY PASS &amp; B2B SAMPLING (RICE Score: 210.0)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Horizon 2 (Growth): 15-MIN DOORSTEP RIDER SWAP &amp; SHADE MATCH (RICE Score: 180.0)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Horizon 3 (Vision): ZEPTO ROUTINE QUESTS &amp; CATEGORY STREAKS (RICE Score: 160.0)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📋 HORIZON 1 RICE METRICS BREAKDOWN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Reach: 9/10 — Touches every active grocery shopping cart on Zepto.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Impact: 10/10 — Solves dark-store quality fear, price match, and trial risk.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Confidence: 9/10 — Validated by N=22 cohort survey &amp; 2,000 scraped reviews.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Effort: 4/10 — Zero CapEx (B2B brand partners fund sample units).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WHY HORIZON 1 (MVP) WINS FIRST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B2B Sampling requires zero capital expenditure (brands fund sample units) and leverages active grocery delivery bags for 0-CAC cross-category trial.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THE SOLUTION: DISCOVERY PASS, THE TRIAL LAYER FOR ZEPTO.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7. MVP Product Solution: 4-Step Discovery Loop Prototype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Converting habitual grocery refillers into multi-category buyers with Figma UI Mockups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685800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1. MIRROR / SAMPLE &amp; 2. AUDIT / PREVIEW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1. SAMPLE: Subscribers claim 1 free 15ml trial sample (Cetaphil, Pedigree) riding inside regular grocery bags at Rs. 0.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2. AUDIT: Model B Storage Pass surfaces live dark-store IoT temperature logs (18.2°C) &amp; automated CCTV rack snapshots.</a:t>
            </a:r>
          </a:p>
        </p:txBody>
      </p:sp>
      <p:pic>
        <p:nvPicPr>
          <p:cNvPr id="6" name="Picture 5" descr="tab3_initial_view_17848107084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55648"/>
            <a:ext cx="4144975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🚀 USER FLOW MOAT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Turns habitual grocery refilling into a high-margin cross-category engine without interrupting the 45-second checkout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FROM A TYPED GROCERY CART TO A TRUSTED CROSS-CATEGORY ORDER. SAME APP, TWO 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8. Technical Architecture &amp; End-to-End System Flow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Behind-the-scenes logic powering sampling allocation, IoT telemetry, and loyalty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⚙ SYSTEM ARCHITECTURE (4 CORE LAYERS)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1 (Client UI): Mobile Cart UI, B2B Sampler Carousel, Streak Board, SkinMatch Viewfinder.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2 (Decision Engine): Persona Recommendation Engine, Voucher Validator, 2x Points Multiplier.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3 (Operations &amp; IoT): Dark Store Temp Log API, CCTV Rack Snapshot Pipeline (AWS S3 7-day TTL).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4 (B2B Marketplace): Brand Sample Inventory Ledger (Cetaphil, Pedigree listing portal).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🔄 EMOTION &amp; METRIC MAPPING ACROSS STAGES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1 (Cart): Types grocery staples → System flags persona → Curious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2 (Sample): Claims B2B trial → System packs in bag → Confident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3 (Audit): Opens Model B CCTV → System shows 18.2°C temp → Reassured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4 (Checkout): Applies DISCOVERY100 → System unlocks 2x Points → Empowered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TECHNICAL ARCHITECTURE MOAT &amp; FEASIBILITY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AWS S3 lifecycle auto-deletion keeps photo storage under $15/month for all of India while dark-store picking speed stays under 60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EVERY METRIC IS TIED TO THE NORTH STAR: MONTHLY CATEGORY EXPLORATION RATE (MCER).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9. Success Metrics &amp; 12-Month Trajectory (MCER: 8.2% → 28.4%)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Targeting 3.5x expansion in cross-category monthly active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⭐ NORTH STAR METRIC (MCER)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Monthly Category Exploration Rate (MCER): % of MACs purchasing from 2+ categories/month.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Baseline: 8.2% → Month 3 (Pilot): 14.5% → Month 6 (Metro): 21.0% → Month 12 Target: 28.4%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🛡️ OPERATIONAL GUARDRAIL METRICS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Picker SLA Floor: Dark-store picking speed must stay below 60s (CCTV adds 0s delay).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S3 Cloud Cost Ceiling: AWS S3 photo storage capped below $20/month via 7-day TTL rules.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Checkout Drop-off Cap: Sample selection interaction must not increase cart drop-off (&gt;0.2%).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📈 METRIC COMPOUNDING &amp; INTEGRITY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MCER is measured strictly from real event streams (sample claims, voucher redemptions, category streak completions). Zero proxies.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DISCOVERY PASS TURNS HESITATION INTO REPEATED, TRUSTED RUNS AND SCALES NEXT-TIER ARR.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10. Monetization, Phased Rollout &amp; Risk Mitigation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Financial flywheel, 3-phase launch, and 4 core risk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🚀 3-PHASE ROLLOUT ROADMAP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Phase 1 (Beta): 10% Bangalore Cohort (30 days) with Cetaphil &amp; Pedigree.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Phase 2 (Pro Rollout): All Tier-1 Metros (Mumbai, Delhi, Bangalore, Hyderabad).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Phase 3 (GA): Pan-India rollout across 500+ Dark Store hubs.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⚠️ RISKS &amp; MITIGATIONS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HIGH - Dark Store Expiry Fears → Mitigation: Model B Automated CCTV Snapshots &amp; IoT Temp Logs ($15/mo).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HIGH - Return Bot Anxiety → Mitigation: 15-Minute Doorstep Rider Swap &amp; Shade Match Shield.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MEDIUM - Brand Supply Shortage → Mitigation: Multi-brand fallback sampling pools.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MEDIUM - Competitor Copying → Mitigation: Category Streak Grocery Point Lock-In.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💰 MONETIZATION &amp; B2B AD ENGINE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Zepto Discovery Pass @ Rs. 59/mo + B2B Brand Listing Fees (Brands pay Rs. 15 per distributed trial sample).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Agent's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Problem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Journey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800" b="1">
                <a:solidFill>
                  <a:srgbClr val="130D1E"/>
                </a:solidFill>
              </a:defRPr>
            </a:pPr>
            <a:r>
              <a:t>Risks + GTM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