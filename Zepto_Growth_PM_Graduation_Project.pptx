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AI-POWERED TRUST-LED DISCOVERY FOR CROSS-CATEGORY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1. Context &amp; Business Goal: Converting Daily Grocery Habits into Low-Risk Non-Grocery Trial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The barrier is not lack of demand for new categories; it is low-trust, low-risk trial inside a grocery-first habit.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STRATEGIC BRIEF &amp; PM SCOPE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Role &amp; Scope: PM on Zepto Growth Team driving trust-led cross-category discovery.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Observed Behavior: 71.2% review-mention share of grocery staples shows heavy discussion dominance [Synthetic Corpus, 2,000 items].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Objective: Lift Monthly Active Customers (MAC) buying from 2+ categories from 8.2% to 28.4% [Illustrative Target].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Target Categories: Personal Care (35% margin), Pet Supplies (45% margin), Electronics (30% margin), Baby Care (35% margin).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ZEPTO SCALE VS MARGIN FLYWHEEL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Scale Milestone: $1.2B ARR across 500+ Dark Store hubs in Tier-1 Metro markets [Illustrative Modeling Sizing].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Habit Loop: Grocery refillers checkout in &lt;45s without exploring adjacent categories.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Margin Formula: Blended Margin = (Grocery % * 10%) + (Non-Grocery % * 40%) -&gt; Unlocks +300bps EBITDA [Illustrative Modeling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Growth PM Approach: Trigger de-risked trial during recurring grocery orders without interrupting 45s checkout speed.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🔗 ANONYMOUS FELLOWSHIP PROJECT DIRECTORY &amp; VERIFIED DATA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Live Streamlit App: https://zeptomvp.streamlit.app | Public Source Code: NL_Zepto_Growth_PM_Graduation_Project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FAST EMERGENCY UTILITY VS TRUSTED PLANNED DESTINATION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2. Frequent Grocery Users Buy Planned Non-Grocery Items Elsewhere Due to Lack of Trust &amp; Risk-Free Trial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Frequent grocery users do not expand into non-grocery categories because QCommerce is perceived as a fast emergency utility.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10-Minute Hyper-Local Delivery Speed (Zepto, Blinkit, Instamart).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Dark Store Density &amp; Real-Time Stock (500+ Dark Stores).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Sub-Second Cart Search &amp; Auto-Complete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❌ WHAT NOBODY HAS SOLVED (THE PURCHASING LEAKAGE)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Purchasing Leakage: 83% of surveyed users (20/24) buy planned non-grocery items outside QCommerce on Amazon/Nykaa/DMart [User Survey, N=24].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Quality &amp; Expiry Fear: 20.1% of discovery subset (134/667) fear heat degrades dark store inventory [Synthetic Corpus, 667 subset].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Return &amp; Refund Anxiety: 17% of surveyed users (4/24) cite refund chatbot loops as top barrier [User Survey Q4, N=24].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Risk-Free Product Sampling: 0-CAC sampling moat completely unaddressed by incumbent ad banners.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★ CORE THESIS TESTED &amp; VALIDATED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AI REVIEW WORKFLOW &amp; PRIMARY RESEARCH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3. AI Review Pipeline Identified Recurring Barriers, Then Primary Research Validated 3 Core Blocker Buckets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Synthesizing synthetic review patterns and primary survey responses into 3 actionable barrier buckets.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AI REVIEW PIPELINE &amp; SYNTHETIC CORPUS (2,000 ITEMS)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AI Pipeline: Ingested 2,000 synthetic items (200 x 10 channels) -&gt; Cleaned -&gt; Clustered complaint patterns.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Operational Exclusion: Filtered 1,333 operational complaints (66.7%). Evaluated 667 discovery-relevant subset.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Barrier Distribution (667 subset): Quality Fear 20.1% (134/667), Impulse Fatigue 20.1% (134/667), Low Awareness 19.9% (133/667), Planned Mismatch 19.9% (133/667), Packaging Guilt 19.9% (133/667).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3 SYNTHESIZED BARRIER BUCKETS (USER SURVEY, N=24)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Trust Barrier: Quality/expiry fear (25%, 6/24) &amp; Return/refund chatbot uncertainty (17%, 4/24) [Survey Q4].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Purchase-Mode Barrier: Planned bulk-buy habit mismatch (33%, 8/24); 83% (20/24) buy planned items on Amazon/Nykaa/DMart.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Salience Barrier: Low category awareness (21%, 5/24) due to search-centric speed and banner blindness.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RESEARCH CONCLUSION &amp; INSIGHT SYNTHESIS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don't need intrusive checkout banner ads. They need an AI trust cue, a B2B trial sample in their regular bag,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HIGH-FREQUENCY GROCERY BUYERS WHO LEAK NON-GROCERY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4. Target Segment: High-Frequency Grocery Users Open to Low-Risk Adjacent Category Trials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retained grocery refuelers who already trust Zepto for daily essentials but buy non-groceries elsewhere.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TARGET COHORT PROFILE &amp; RATIONALE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Cohort Definition: High-frequency grocery users (79% order weekly+, 19/24) who leak non-grocery spend to Amazon/Nykaa (83%, 20/24).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Fit: Retained users with high basket frequency; lower CAC than acquiring new users.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Behavioral Obstacle: Code quick-commerce strictly as an urgent emergency utility, avoiding non-grocery items due to perceived quality risk.</a:t>
            </a:r>
          </a:p>
        </p:txBody>
      </p:sp>
      <p:pic>
        <p:nvPicPr>
          <p:cNvPr id="6" name="Picture 5" descr="persona_neha_1784810986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🎯 IMPACT IF SOLVED FOR THE CAUTIOUS EXPLORER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Cuts pre-checkout anxiety loops. Makes multi-category exploration safe. Boosts customer LTV by 3.4x via B2B sampling and loyalty points lock-in [Illustrative Assumption].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GROCERIES BUILD DAILY RETENTION. NON-GROCERIES BUILD PROFIT MARGINS.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5. Eliminating Trial Barriers Converts High-Frequency Grocery Traffic into High-Margin LTV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Financial flywheel model driven by zero-CAC sampling and loyalty point cross-subsidization.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TAM: $18.0B — Total Indian Quick Commerce Market Projection by 2028 [Redseer/Bain Industry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SAM: $4.2B — Non-Grocery Quick Commerce Penetration Potential [Illustrative Modeling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SOM: $480M — Zepto Cross-Category Discovery Capture Opportunity [Illustrative Modeling Estimate].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VALIDATED CONVERSION LEVERS (N=24)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Risk-Free Trial: 38% of survey respondents (9/24) state a free trial sample in their bag would drive new category trial.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Loyalty Lock-In: 63% of survey respondents (15/24) prefer loyalty points tied to daily essentials unlocked by trying new categories.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Rider Swap Trust: 92% of survey respondents (22/24) rate a 15-minute doorstep swap guarantee between 3.0 and 5.0 on trust impact.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FINANCIAL FLYWHEEL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Shifting grocery refillers to 35%–50% margin categories expands gross margin by +300bps and captures $480M SOM [Illustrative Modeling Estimate].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STRATEGIC ALTERNATIVES &amp; PRIORITIZATION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6. Strategic Comparison: Why Trust-Led In-Bag Sampling Beats Ad Banners &amp; Discounting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Comparing alternative growth levers demonstrates why in-bag trial provides the highest impact at lowest effort.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ALTERNATIVES VS TRUST-LED SAMPLING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Homepage Banners: Ignored due to impulse fatigue (20.1% review subset); zero impact on trust.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Broad Discounting: Destroys unit margins without addressing quality/expiry fears.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Ops Overhaul: Requires massive CapEx before validating customer demand.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Trust-Led Sampling (MVP): 0-CapEx, 0-CAC trial delivered inside active grocery bags with grocery-linked rewards.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🏆 THREE STRATEGIC HORIZONS (RICE MATRIX)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1 (MVP) — Discovery Pass &amp; B2B Sampling: Brand-funded trial samples in grocery bags at Rs. 0 [0-CapEx, 0-CAC]. RICE: 210.0 [Illustrative].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2 (Growth) — 15-Min Doorstep Swap &amp; Storage Audit: Reverse logistics rider replacement + dark store temperature telemetry [Operational CapEx]. RICE: 180.0 [Illustrative].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3 (Vision) — Category Quest Loyalty Engine: Multi-category streak board unlocking grocery point multipliers [RICE: 160.0].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WHY HORIZON 1 (MVP) WINS FIRST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B2B Sampling requires zero capital expenditure (brands fund sample units) and addresses the core barrier (risk) right inside recurring grocery bags.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MVP: RECOMMEND, DE-RISK, AND REWARD ADJACENT CATEGORY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7. De-Risked MVP Suite: Integrating AI Recommendations, Trust Cues, and Trial Incentives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Six built MVP capabilities convert routine grocery checkouts into trusted multi-category exploration.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💎 BUILT MVP CAPABILITIES 1, 2 &amp; 3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🧠 AI Recommendation &amp; Explainability: Recommends adjacent category with clear context ('Because you regularly buy breakfast staples and haven't tried personal care').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💎 0-CAC Trial Sample: Subscribers claim 1 free brand-sponsored sample (Cetaphil, Pedigree) in grocery bag at Rs. 0 [38% survey trigger, 9/24].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🏷️ Risk Reduction Voucher: Post-trial nudge unlocks Rs. 100 category voucher for full-size items.</a:t>
            </a:r>
          </a:p>
        </p:txBody>
      </p:sp>
      <p:pic>
        <p:nvPicPr>
          <p:cNvPr id="6" name="Picture 5" descr="tab3_initial_view_1784810708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🚀 USER FLOW MOAT &amp; INTERACTIVE PROTOTYPE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Turns habitual grocery refilling into a high-margin cross-category engine without interrupting 45s checkout speed. Try live at https://zeptomvp.streamlit.app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8. Lightweight Decision Engine Allocates B2B Samples Without Adding Picking SLA Latency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Four-layer architecture integrates brand inventory, cart triggers, and loyalty ledgers.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1 (Client UI): Mobile Cart UI, B2B Sampler Carousel, Streak Board, SkinMatch Viewfinder.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2 (Decision Engine): Persona Recommendation &amp; Explainability Engine, Voucher Validator, 2x Points Multiplier.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3 (Operations &amp; Fulfillment): Picker packing checklist update (adds &lt;3s to picking flow; zero hardware requirement for MVP).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4 (B2B Marketplace Portal): Brand sample inventory ledger tracking sample distribution and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1 (Cart): Types grocery staples -&gt; System flags persona &amp; explainability nudge -&gt; Curious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2 (Sample): Claims B2B trial -&gt; System packs in bag -&gt; Confident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3 (Audit): Views storage quality badge -&gt; System verifies freshness -&gt; Reassured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4 (Checkout): Applies DISCOVERY100 -&gt; System unlocks 2x Points -&gt;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TECHNICAL ARCHITECTURE MOAT &amp; FEASIBILITY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Zero hardware cost for MVP sampler. Optional S3 lifecycle photo storage under $15/month for Horizon 2 dark store CCTV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EVERY METRIC IS TIED TO THE NORTH STAR: MONTHLY CATEGORY EXPLORATION RATE (MCER).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9. Success Is Measured by Monthly Category Exploration Rate (MCER) &amp; De-Risked Conversion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North Star metric supported by leading indicators, conversion funnels, and SLA guardrails.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NORTH STAR &amp; LEADING INDICATORS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North Star Metric: Monthly Category Exploration Rate (MCER) — % of MACs purchasing from 2+ categories/month.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• Baseline: 8.2% MAC -&gt; Target: 28.4% MAC in 12 months [Illustrative Trajectory Target].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Leading Indicators: Sample attach rate to grocery carts (target &gt;35%), Trust-cue interaction CTR, Sample-to-full-size conversion (target 12% in 14 days), % users redeeming grocery-linked point streak.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Picker SLA Floor: Dark-store sample packing time addition capped at &lt;3 seconds per order.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Drop-off Cap: Sample selection interaction must not increase cart drop-off rate (&gt;0.2%).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Refund Rate Ceiling: Doorstep replacement requests must remain below 1.5% of non-grocery orders.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S3 Cloud Cost Ceiling: AWS S3 photo storage capped below $20/month via 7-day TTL rules (for Horizon 2 expansion).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📈 METRIC COMPOUNDING &amp; INTEGRITY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DISCOVERY PASS TURNS HESITATION INTO REPEATED, TRUSTED RUNS AND SCALES NEXT-TIER ARR.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10. Brand-Sponsored Listing Fees Fund Sampling Operations While Category Streaks Drive Retention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Phased rollout strategy mitigates inventory risk and validates unit economics.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🚀 3-PHASE ROLLOUT &amp; MONETIZATION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1 (Beta): 30-day pilot across 10 dark stores in Bangalore with 2 FMCG brand partners.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2 (Pro Rollout): Metro rollout across Mumbai, Delhi-NCR, and Bangalore (150 dark stores).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3 (GA): Full network rollout across 500+ dark store hubs.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Monetization: Rs. 59/mo Pass + B2B Brand Listing Fees (Brands pay Rs. 15 per distributed sample) [Illustrative Assumption].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🔗 ANONYMOUS REVIEWER DATA ACCESS DIRECTORY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Live Streamlit App: https://zeptomvp.streamlit.app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Public Source Code &amp; Datasets: NL_Zepto_Growth_PM_Graduation_Project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Synthetic Reviews Corpus JSON: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Primary Survey &amp; Transcripts: https://raw.githubusercontent.com/akhyashukla03/zeptomvp/main/data/interview_transcripts.json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⚠️ RISKS &amp; MITIGATIONS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Sample Shortage -&gt; Multi-brand fallback pool | Return Anxiety -&gt; 15-Min Rider Swap | Copying -&gt; Points Streak Lock-In on Staples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